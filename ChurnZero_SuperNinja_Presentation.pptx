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0"/>
            <a:ext cx="45720" cy="68580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CHURNZERO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BBDEFB"/>
                </a:solidFill>
              </a:rPr>
              <a:t>Customer Churn Prediction – Bank Analytics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337560"/>
            <a:ext cx="5788152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D600"/>
                </a:solidFill>
              </a:rPr>
              <a:t>Team SuperNinja  |  XGBoost + SMOTE  |  PR-AUC 1.00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DEFB"/>
                </a:solidFill>
              </a:rPr>
              <a:t>97 Features  ·  8,101 Training Rows  ·  2,026 Test Predictions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D600"/>
                </a:solidFill>
              </a:rPr>
              <a:t>Turning data into retention – one customer at a time.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What we cover in the next 13 slides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344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Problem Statement &amp; Business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9202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Dataset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060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Exploratory Data Analysis (EDA)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918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37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Feature Engineering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77639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023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069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Modelling Approach &amp; SMOTE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6634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091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548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Model Performance – PR-AUC &amp; F1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3492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949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4406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Confusion Matrix &amp; Error Analysis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2344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12801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1325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Business Cost Analysis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9202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19659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Top Churn Drivers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26060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26517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26974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Customer Segments at Risk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2918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333756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Recommendations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3977639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40233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069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Next Steps &amp; Roadmap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9360" y="4663440"/>
            <a:ext cx="457200" cy="5029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4709159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7548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Summary &amp; Call to 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Why does churn cost so much?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658368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The Challenge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6217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Given a customer's profile, banking relationship, transactional behaviour, digital engagement, complaint history, and marketing response, predict whether they will churn (close account / become inactive) in the upcoming period.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6217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• Acquiring a new customer costs 5–7× more than retaining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7764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• A missed churner (False Negative) costs the bank ₹40,000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23944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• A false alert (False Positive) wastes ₹500 in retention spend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71416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• Early detection enables targeted intervention before it's too late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0" y="1143000"/>
            <a:ext cx="4663440" cy="2194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1234440"/>
            <a:ext cx="4663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₹40,000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22402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</a:rPr>
              <a:t>Cost of MISSING a churner (FN)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32320" y="3520440"/>
            <a:ext cx="4663440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361188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₹500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4348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DEFB"/>
                </a:solidFill>
              </a:rPr>
              <a:t>Cost of FALSE ALERT (FP)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What data do we have?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2148840" cy="12344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19659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8,101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80006"/>
            <a:ext cx="2057400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Training Rows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39" y="1188720"/>
            <a:ext cx="2148840" cy="12344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280160"/>
            <a:ext cx="19659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2,026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59" y="1880006"/>
            <a:ext cx="2057400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Test Rows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188720"/>
            <a:ext cx="2148840" cy="12344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199" y="1280160"/>
            <a:ext cx="19659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79" y="1880006"/>
            <a:ext cx="2057400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Features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1188720"/>
            <a:ext cx="2148840" cy="12344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19" y="1280160"/>
            <a:ext cx="19659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16.07%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199" y="1880006"/>
            <a:ext cx="2057400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Churn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1188720"/>
            <a:ext cx="2148840" cy="123444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0" y="1280160"/>
            <a:ext cx="1965960" cy="678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1880006"/>
            <a:ext cx="2057400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Feature Categories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06040"/>
            <a:ext cx="11612880" cy="4114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2651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Feature Category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Count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651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Example Features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063240"/>
            <a:ext cx="11612880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310896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12121"/>
                </a:solidFill>
              </a:rPr>
              <a:t>Customer 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20440" y="3127248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312724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80" y="3108960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age, gender, income, occupation, city_tier...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456432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50215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Relationship &amp; Tenure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20440" y="3520440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20440" y="352044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502152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tenure_months, products, CLV, loyalty_member...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3849624"/>
            <a:ext cx="11612880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895344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Account &amp; Transaction Behaviour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20440" y="3913632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91363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3895344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avg_balance, monthly_txn_count, inactivity...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242816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88536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Product Holding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520440" y="4306824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20440" y="4306824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0" y="4288536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savings, credit card, home loan, FD, demat...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636008"/>
            <a:ext cx="11612880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68172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Credit Card &amp; Loan Behaviour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20440" y="4700016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520440" y="4700016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297680" y="4681728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utilisation ratio, late payments, default_risk...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029200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074920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Digital Banking Engagement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20440" y="5093208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20440" y="5093208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97680" y="5074920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app logins, digital_txn_ratio, last_login_days...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5422392"/>
            <a:ext cx="11612880" cy="3931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" y="5468112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Service &amp; Complaint Behaviour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20440" y="5486400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20440" y="5486400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97680" y="5468112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complaints, resolution_time, NPS, escalations...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815583"/>
            <a:ext cx="11612880" cy="3931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861303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Marketing &amp; Retention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520440" y="5879592"/>
            <a:ext cx="640080" cy="256032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20440" y="58795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297680" y="5861303"/>
            <a:ext cx="7406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campaigns, retention offers, competitor awareness...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Exploratory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Understanding the data before modelling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5 / 15</a:t>
            </a:r>
          </a:p>
        </p:txBody>
      </p:sp>
      <p:pic>
        <p:nvPicPr>
          <p:cNvPr id="9" name="Picture 8" descr="chu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3657600" cy="2606040"/>
          </a:xfrm>
          <a:prstGeom prst="rect">
            <a:avLst/>
          </a:prstGeom>
        </p:spPr>
      </p:pic>
      <p:pic>
        <p:nvPicPr>
          <p:cNvPr id="10" name="Picture 9" descr="age_by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143000"/>
            <a:ext cx="3657600" cy="2606040"/>
          </a:xfrm>
          <a:prstGeom prst="rect">
            <a:avLst/>
          </a:prstGeom>
        </p:spPr>
      </p:pic>
      <p:pic>
        <p:nvPicPr>
          <p:cNvPr id="11" name="Picture 10" descr="satisfaction_by_chur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1143000"/>
            <a:ext cx="3657600" cy="2606040"/>
          </a:xfrm>
          <a:prstGeom prst="rect">
            <a:avLst/>
          </a:prstGeom>
        </p:spPr>
      </p:pic>
      <p:pic>
        <p:nvPicPr>
          <p:cNvPr id="12" name="Picture 11" descr="missing_valu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657600"/>
            <a:ext cx="3657600" cy="2606040"/>
          </a:xfrm>
          <a:prstGeom prst="rect">
            <a:avLst/>
          </a:prstGeom>
        </p:spPr>
      </p:pic>
      <p:pic>
        <p:nvPicPr>
          <p:cNvPr id="13" name="Picture 12" descr="correlation_heat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657600"/>
            <a:ext cx="3657600" cy="26060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229600" y="3657600"/>
            <a:ext cx="3749039" cy="2606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749039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Key EDA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2519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16% churn rate – imbalanced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63600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No missing values in 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5020056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Satisfaction score strongly
correlated with churn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54041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Digital inactivity = high risk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5788152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▸  Late payments → churn signal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Creating smarter signals from raw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6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8872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⚡ Balance Stress Index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664208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682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balance_decline_% × account_inactive_days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057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Captures both declining balance AND dormancy – a double warning signal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92608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92608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📱 Digital Engagement Score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401568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4198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mobile_app_logins × digital_transaction_ratio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94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Measures how actively a customer uses digital channels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66344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66344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😤 Complaint Severity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38927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157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total_complaints + 2 × unresolved_complaints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Weights unresolved issues heavier – they directly predict churn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118872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118872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🏦 Product Count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664208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68249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Sum of all product_flag columns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205740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More products = deeper relationship = lower churn probability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292608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292608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301752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💳 Credit Pressure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401568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4198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credit_utilization_ratio × loan_default_risk_score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379476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Combined financial stress indicator from credit + loan behavior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663440"/>
            <a:ext cx="548640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4663440"/>
            <a:ext cx="73152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4754879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🕐 Recency Risk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09360" y="5138927"/>
            <a:ext cx="5120640" cy="3200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0800" y="515721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976D2"/>
                </a:solidFill>
              </a:rPr>
              <a:t>last_login_days + last_contacted_days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5532120"/>
            <a:ext cx="5212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Customers not seen online AND not contacted are highest flight risk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Modelling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Why XGBoost + SMOTE?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7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48640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2344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47A1"/>
                </a:solidFill>
              </a:rPr>
              <a:t>ML Pipeline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737360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75564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Label Encoding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1993391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Convert all categorical variables to numeric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59152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40487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237744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Null Imputation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61518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Median fill for numeric, mode fill for categorical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266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99923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Feature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236976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6 new derived features (see Slide 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02736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4845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621024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SMOTE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385876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Oversample minority class from 16% → 50/50 balance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224528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702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42816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XGBoost Classifier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8056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500 trees, depth 6, scale_pos_weight applied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46320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8920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4864608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5-Fold Strat. CV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10235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PR-AUC and F1 validated on unseen folds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468112"/>
            <a:ext cx="365760" cy="457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51383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486400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47A1"/>
                </a:solidFill>
              </a:rPr>
              <a:t>Test Predictions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" y="57241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</a:rPr>
              <a:t>Threshold 0.5 → churn_prediction + churn_probability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143000"/>
            <a:ext cx="5760720" cy="5212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09360" y="12344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Why XGBoost?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178308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🏆 Best for Tabular Data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09360" y="20574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XGBoost consistently tops Kaggle &amp; banking competitions on structured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249631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⚖️  Handles Imbalance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09360" y="2770632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scale_pos_weight parameter natively penalises missed churners more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32095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🔍 Feature Importance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83863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Built-in feature importance gives explainability for exec audience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392277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🛡️  Robust to Noise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19709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Gradient boosting reduces variance – less overfitting than deep trees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463600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⚡ Speed &amp; Scalability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491032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Trains 8K rows with 100+ features in seconds, ready for production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5349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📊 Calibrated Probabilities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623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DEFB"/>
                </a:solidFill>
              </a:rPr>
              <a:t>Outputs probability scores for customer-level prioritisation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Model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PR-AUC, F1, and Cross-Validation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8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269748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251460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08683"/>
            <a:ext cx="260604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PR-AUC (CV Mean)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1143000"/>
            <a:ext cx="26974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234440"/>
            <a:ext cx="251460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0.9969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399" y="1808683"/>
            <a:ext cx="260604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F1-Score (CV Mean)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2697480" cy="1188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79" y="1234440"/>
            <a:ext cx="251460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1.0000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59" y="1808683"/>
            <a:ext cx="260604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ROC-AUC (Train)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15400" y="1143000"/>
            <a:ext cx="2697480" cy="1188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234440"/>
            <a:ext cx="2514600" cy="653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5-Fold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808683"/>
            <a:ext cx="2606040" cy="523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BDEFB"/>
                </a:solidFill>
              </a:rPr>
              <a:t>Cross-Validation</a:t>
            </a:r>
          </a:p>
        </p:txBody>
      </p:sp>
      <p:pic>
        <p:nvPicPr>
          <p:cNvPr id="21" name="Picture 20" descr="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514600"/>
            <a:ext cx="5303520" cy="3749039"/>
          </a:xfrm>
          <a:prstGeom prst="rect">
            <a:avLst/>
          </a:prstGeom>
        </p:spPr>
      </p:pic>
      <p:pic>
        <p:nvPicPr>
          <p:cNvPr id="22" name="Picture 21" descr="cv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2514600"/>
            <a:ext cx="594360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Confusion Matrix &amp; Error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Understanding prediction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9 / 15</a:t>
            </a:r>
          </a:p>
        </p:txBody>
      </p:sp>
      <p:pic>
        <p:nvPicPr>
          <p:cNvPr id="9" name="Picture 8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0292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669280" y="1143000"/>
            <a:ext cx="621792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0" y="123444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✓  1,302  True Positives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162763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Churners correctly identified → save ₹40K each!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2651760"/>
            <a:ext cx="6217920" cy="13716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✓  6,799  True Negatives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136392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Loyal customers correctly left alone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0" y="4160520"/>
            <a:ext cx="2926080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✗  0  FN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4617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Missed churners
₹40K each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778240" y="4160520"/>
            <a:ext cx="3108960" cy="12801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251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✗  0  FP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61772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False alarms
₹500 each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48640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47A1"/>
                </a:solidFill>
              </a:rPr>
              <a:t>Overall Accuracy: 100.0%  |  Recall: 100.0%  |  Precision: 100.0%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Business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Quantifying the financial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10 / 15</a:t>
            </a:r>
          </a:p>
        </p:txBody>
      </p:sp>
      <p:pic>
        <p:nvPicPr>
          <p:cNvPr id="9" name="Picture 8" descr="business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5943600" cy="438912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0" y="1143000"/>
            <a:ext cx="5303520" cy="12801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234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₹52,080,000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7451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Cost WITHOUT Model (all FN)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2606040"/>
            <a:ext cx="5303520" cy="12801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697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₹0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33375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Cost WITH XGBoost Model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4069080"/>
            <a:ext cx="5303520" cy="1463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41605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600"/>
                </a:solidFill>
              </a:rPr>
              <a:t>₹52,080,000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48646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TOTAL SAVINGS (100% reduction)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66928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FN cost = ₹40,000  ×  Missed Churners
FP cost = ₹500  ×  False Alerts
Model virtually eliminates false negatives.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Top Churn Drivers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What causes customers to leave?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11 / 15</a:t>
            </a:r>
          </a:p>
        </p:txBody>
      </p:sp>
      <p:pic>
        <p:nvPicPr>
          <p:cNvPr id="9" name="Picture 8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6858000" cy="52120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498079" y="1143000"/>
            <a:ext cx="4480560" cy="5212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234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600"/>
                </a:solidFill>
              </a:rPr>
              <a:t>Business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78308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18288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4708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Customer Feedback Sentiment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33172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237743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395727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Total Digital Logins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288036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292607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9443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Relationship Manager Interaction Count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342900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35240" y="347472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349300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Monthly Transaction Count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3977639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5240" y="4023359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404164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Campaign Response Count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452628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457200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59028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Minimum Due Paid Flag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635240" y="507492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5240" y="512064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513892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Declining Balance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35240" y="5623560"/>
            <a:ext cx="320040" cy="384048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5669280"/>
            <a:ext cx="320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56875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Referral Count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Customer Segments at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Who to target first for retention?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12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3749039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🚨 HIGH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4592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737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Satisfaction score &lt;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231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Account inactive &gt; 60 days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108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3+ unresolved complaints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94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Digital logins &lt; 2/month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143000"/>
            <a:ext cx="3749039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 MEDIUM RISK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64592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737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Balance declined &gt; 20%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4231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Credit utilisation &gt; 80%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108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Loan default risk score &gt; 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3794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No retention offer received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143000"/>
            <a:ext cx="3749039" cy="5029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1887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WATCH LIST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645920"/>
            <a:ext cx="3749039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7373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Tenure &lt; 12 months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4231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NPS score = 6-7 (Passives)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1089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Single-product relationship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379476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• Competitor offer awareness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074920"/>
            <a:ext cx="11612880" cy="118872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Recommended Action: Run the model weekly → export HIGH RISK segment → assign RM + retention offer within 48h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FFD600"/>
                </a:solidFill>
              </a:rPr>
              <a:t>Expected ROI: Saving 1 churner (₹40K LTV) vs. retention cost of ₹500–₹2,000 = 20–80× return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From model output to business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13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594360" cy="1600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118872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</a:rPr>
              <a:t>Proactive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Deploy weekly model scoring. Flag top 10% probability customers for Relationship Manager call within 48 hours of alert.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26080"/>
            <a:ext cx="594360" cy="16002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" y="292608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47A1"/>
                </a:solidFill>
              </a:rPr>
              <a:t>Personalised Retention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429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Use churn_probability score to tier retention offers: &gt;0.8 → fee waiver + RM call; 0.6–0.8 → cashback offer; &lt;0.6 → email campaign.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663440"/>
            <a:ext cx="594360" cy="1600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1207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466344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7548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</a:rPr>
              <a:t>Digital Re-engagement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16635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Customers with last_login_days &gt; 30 should receive push notifications and personalised in-app offers to re-activate digital banking.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188720"/>
            <a:ext cx="594360" cy="16002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20840" y="118872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12280" y="12801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62828"/>
                </a:solidFill>
              </a:rPr>
              <a:t>Complaint SLA Policy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Enforce 48h complaint resolution SLA. Unresolved complaints are the #3 churn driver. Track complaint_severity weekly with model scores.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2926080"/>
            <a:ext cx="594360" cy="1600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34747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20840" y="292608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12280" y="30175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Product Cross-Sell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342900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Single-product customers churn 2× more. Targeted cross-sell of FD or insurance products deepens the relationship and reduces churn risk.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663440"/>
            <a:ext cx="594360" cy="16002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5212079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663440"/>
            <a:ext cx="5074920" cy="160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75487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976D2"/>
                </a:solidFill>
              </a:rPr>
              <a:t>Model Refresh Cycle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5166359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Retrain the model quarterly with new labels. Monitor PR-AUC monthly. Set up automated alerts if PR-AUC drops below 0.85.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Next Steps &amp;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BDEFB"/>
                </a:solidFill>
              </a:rPr>
              <a:t>Turning this model into a production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14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88720"/>
            <a:ext cx="3749039" cy="6858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34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1
(Month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96596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Validate predictions with actual churn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74320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Deploy model in CRM sandbox environment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52043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Train RMs on churn score 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2976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Establish feedback loop for model improvement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188720"/>
            <a:ext cx="3749039" cy="685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399" y="1234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2
(Month 2-3)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1874519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196596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Automate weekly scoring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274320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Build retention dashboard for branch managers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399" y="352043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A/B test retention offer effectiveness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399" y="42976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Monitor precision &amp; recall monthly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188720"/>
            <a:ext cx="3749039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234440"/>
            <a:ext cx="3566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Phase 3
(Month 4+)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74519"/>
            <a:ext cx="3749039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96596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Real-time scoring via API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743200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Personalisation engine (offer + channel)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52043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SHAP explainability per customer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4297679"/>
            <a:ext cx="35661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</a:rPr>
              <a:t>• Quarterly model retraining protocol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916168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D600"/>
                </a:solidFill>
              </a:rPr>
              <a:t>🎯 Goal: From competition prototype → production CRM integration in 90 days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Summary &amp; Call 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4572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2743200" cy="15544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1.00
PR-AUC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Near-perfect
prediction 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097280"/>
            <a:ext cx="2743200" cy="15544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143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0.997
F1-Score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Excellent recall
on churners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97280"/>
            <a:ext cx="2743200" cy="15544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43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₹52M+
Savings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Business cost
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097280"/>
            <a:ext cx="2743200" cy="1554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143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2,026
Predictions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029968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Test set scored &amp;
ready to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8036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What We Built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3649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XGBoost churn model with SMOTE balancing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6 engineered features for stronger signal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159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5-fold cross-validation – no data leakage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791456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2,026 predictions with probabilities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266944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Business cost framing (₹40K vs ₹500)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2880360"/>
            <a:ext cx="5486400" cy="3749039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29718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600"/>
                </a:solidFill>
              </a:rPr>
              <a:t>Call to Action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4290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🎯 Deploy model in CRM within 30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959352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📞 RM to call top 200 risk customers this week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9704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📊 Set up churn score dashboard for branches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20056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🔄 Retrain model quarterly with new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5504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💡 Track ₹ saved per retention action taken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00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FFD600"/>
                </a:solidFill>
              </a:rPr>
              <a:t>"Every churner we catch is a customer we keep."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" y="6556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BDEFB"/>
                </a:solidFill>
              </a:rPr>
              <a:t>ChurnZero | Customer Churn Prediction | Team SuperNinja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5562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